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media/image4.jpg" ContentType="image/pn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0" r:id="rId3"/>
    <p:sldId id="259" r:id="rId4"/>
    <p:sldId id="261" r:id="rId5"/>
    <p:sldId id="262" r:id="rId6"/>
    <p:sldId id="263"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9CE19D8-C5D2-491A-AECE-183A28229095}" type="datetimeFigureOut">
              <a:rPr lang="en-US" smtClean="0"/>
              <a:t>23-Nov-25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915F49-D86C-426B-B8E7-BE23B629E2A3}" type="slidenum">
              <a:rPr lang="en-US" smtClean="0"/>
              <a:t>‹#›</a:t>
            </a:fld>
            <a:endParaRPr lang="en-US"/>
          </a:p>
        </p:txBody>
      </p:sp>
    </p:spTree>
    <p:extLst>
      <p:ext uri="{BB962C8B-B14F-4D97-AF65-F5344CB8AC3E}">
        <p14:creationId xmlns:p14="http://schemas.microsoft.com/office/powerpoint/2010/main" val="2467204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CE19D8-C5D2-491A-AECE-183A28229095}" type="datetimeFigureOut">
              <a:rPr lang="en-US" smtClean="0"/>
              <a:t>23-Nov-25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915F49-D86C-426B-B8E7-BE23B629E2A3}" type="slidenum">
              <a:rPr lang="en-US" smtClean="0"/>
              <a:t>‹#›</a:t>
            </a:fld>
            <a:endParaRPr lang="en-US"/>
          </a:p>
        </p:txBody>
      </p:sp>
    </p:spTree>
    <p:extLst>
      <p:ext uri="{BB962C8B-B14F-4D97-AF65-F5344CB8AC3E}">
        <p14:creationId xmlns:p14="http://schemas.microsoft.com/office/powerpoint/2010/main" val="3633643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9CE19D8-C5D2-491A-AECE-183A28229095}" type="datetimeFigureOut">
              <a:rPr lang="en-US" smtClean="0"/>
              <a:t>23-Nov-25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915F49-D86C-426B-B8E7-BE23B629E2A3}" type="slidenum">
              <a:rPr lang="en-US" smtClean="0"/>
              <a:t>‹#›</a:t>
            </a:fld>
            <a:endParaRPr lang="en-US"/>
          </a:p>
        </p:txBody>
      </p:sp>
    </p:spTree>
    <p:extLst>
      <p:ext uri="{BB962C8B-B14F-4D97-AF65-F5344CB8AC3E}">
        <p14:creationId xmlns:p14="http://schemas.microsoft.com/office/powerpoint/2010/main" val="673775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9CE19D8-C5D2-491A-AECE-183A28229095}" type="datetimeFigureOut">
              <a:rPr lang="en-US" smtClean="0"/>
              <a:t>23-Nov-25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915F49-D86C-426B-B8E7-BE23B629E2A3}" type="slidenum">
              <a:rPr lang="en-US" smtClean="0"/>
              <a:t>‹#›</a:t>
            </a:fld>
            <a:endParaRPr lang="en-US"/>
          </a:p>
        </p:txBody>
      </p:sp>
    </p:spTree>
    <p:extLst>
      <p:ext uri="{BB962C8B-B14F-4D97-AF65-F5344CB8AC3E}">
        <p14:creationId xmlns:p14="http://schemas.microsoft.com/office/powerpoint/2010/main" val="15482402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9CE19D8-C5D2-491A-AECE-183A28229095}" type="datetimeFigureOut">
              <a:rPr lang="en-US" smtClean="0"/>
              <a:t>23-Nov-25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915F49-D86C-426B-B8E7-BE23B629E2A3}" type="slidenum">
              <a:rPr lang="en-US" smtClean="0"/>
              <a:t>‹#›</a:t>
            </a:fld>
            <a:endParaRPr lang="en-US"/>
          </a:p>
        </p:txBody>
      </p:sp>
    </p:spTree>
    <p:extLst>
      <p:ext uri="{BB962C8B-B14F-4D97-AF65-F5344CB8AC3E}">
        <p14:creationId xmlns:p14="http://schemas.microsoft.com/office/powerpoint/2010/main" val="1967712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9CE19D8-C5D2-491A-AECE-183A28229095}" type="datetimeFigureOut">
              <a:rPr lang="en-US" smtClean="0"/>
              <a:t>23-Nov-25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915F49-D86C-426B-B8E7-BE23B629E2A3}" type="slidenum">
              <a:rPr lang="en-US" smtClean="0"/>
              <a:t>‹#›</a:t>
            </a:fld>
            <a:endParaRPr lang="en-US"/>
          </a:p>
        </p:txBody>
      </p:sp>
    </p:spTree>
    <p:extLst>
      <p:ext uri="{BB962C8B-B14F-4D97-AF65-F5344CB8AC3E}">
        <p14:creationId xmlns:p14="http://schemas.microsoft.com/office/powerpoint/2010/main" val="24818955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CE19D8-C5D2-491A-AECE-183A28229095}" type="datetimeFigureOut">
              <a:rPr lang="en-US" smtClean="0"/>
              <a:t>23-Nov-25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E915F49-D86C-426B-B8E7-BE23B629E2A3}" type="slidenum">
              <a:rPr lang="en-US" smtClean="0"/>
              <a:t>‹#›</a:t>
            </a:fld>
            <a:endParaRPr lang="en-US"/>
          </a:p>
        </p:txBody>
      </p:sp>
    </p:spTree>
    <p:extLst>
      <p:ext uri="{BB962C8B-B14F-4D97-AF65-F5344CB8AC3E}">
        <p14:creationId xmlns:p14="http://schemas.microsoft.com/office/powerpoint/2010/main" val="756923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9CE19D8-C5D2-491A-AECE-183A28229095}" type="datetimeFigureOut">
              <a:rPr lang="en-US" smtClean="0"/>
              <a:t>23-Nov-25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915F49-D86C-426B-B8E7-BE23B629E2A3}" type="slidenum">
              <a:rPr lang="en-US" smtClean="0"/>
              <a:t>‹#›</a:t>
            </a:fld>
            <a:endParaRPr lang="en-US"/>
          </a:p>
        </p:txBody>
      </p:sp>
    </p:spTree>
    <p:extLst>
      <p:ext uri="{BB962C8B-B14F-4D97-AF65-F5344CB8AC3E}">
        <p14:creationId xmlns:p14="http://schemas.microsoft.com/office/powerpoint/2010/main" val="4620961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9CE19D8-C5D2-491A-AECE-183A28229095}" type="datetimeFigureOut">
              <a:rPr lang="en-US" smtClean="0"/>
              <a:t>23-Nov-25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915F49-D86C-426B-B8E7-BE23B629E2A3}" type="slidenum">
              <a:rPr lang="en-US" smtClean="0"/>
              <a:t>‹#›</a:t>
            </a:fld>
            <a:endParaRPr lang="en-US"/>
          </a:p>
        </p:txBody>
      </p:sp>
    </p:spTree>
    <p:extLst>
      <p:ext uri="{BB962C8B-B14F-4D97-AF65-F5344CB8AC3E}">
        <p14:creationId xmlns:p14="http://schemas.microsoft.com/office/powerpoint/2010/main" val="414548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CE19D8-C5D2-491A-AECE-183A28229095}" type="datetimeFigureOut">
              <a:rPr lang="en-US" smtClean="0"/>
              <a:t>23-Nov-25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915F49-D86C-426B-B8E7-BE23B629E2A3}" type="slidenum">
              <a:rPr lang="en-US" smtClean="0"/>
              <a:t>‹#›</a:t>
            </a:fld>
            <a:endParaRPr lang="en-US"/>
          </a:p>
        </p:txBody>
      </p:sp>
    </p:spTree>
    <p:extLst>
      <p:ext uri="{BB962C8B-B14F-4D97-AF65-F5344CB8AC3E}">
        <p14:creationId xmlns:p14="http://schemas.microsoft.com/office/powerpoint/2010/main" val="1575922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CE19D8-C5D2-491A-AECE-183A28229095}" type="datetimeFigureOut">
              <a:rPr lang="en-US" smtClean="0"/>
              <a:t>23-Nov-25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915F49-D86C-426B-B8E7-BE23B629E2A3}" type="slidenum">
              <a:rPr lang="en-US" smtClean="0"/>
              <a:t>‹#›</a:t>
            </a:fld>
            <a:endParaRPr lang="en-US"/>
          </a:p>
        </p:txBody>
      </p:sp>
    </p:spTree>
    <p:extLst>
      <p:ext uri="{BB962C8B-B14F-4D97-AF65-F5344CB8AC3E}">
        <p14:creationId xmlns:p14="http://schemas.microsoft.com/office/powerpoint/2010/main" val="1294959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CE19D8-C5D2-491A-AECE-183A28229095}" type="datetimeFigureOut">
              <a:rPr lang="en-US" smtClean="0"/>
              <a:t>23-Nov-25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915F49-D86C-426B-B8E7-BE23B629E2A3}" type="slidenum">
              <a:rPr lang="en-US" smtClean="0"/>
              <a:t>‹#›</a:t>
            </a:fld>
            <a:endParaRPr lang="en-US"/>
          </a:p>
        </p:txBody>
      </p:sp>
    </p:spTree>
    <p:extLst>
      <p:ext uri="{BB962C8B-B14F-4D97-AF65-F5344CB8AC3E}">
        <p14:creationId xmlns:p14="http://schemas.microsoft.com/office/powerpoint/2010/main" val="7203531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8" name="Rectangle 7"/>
          <p:cNvSpPr/>
          <p:nvPr/>
        </p:nvSpPr>
        <p:spPr>
          <a:xfrm>
            <a:off x="-103815" y="3047774"/>
            <a:ext cx="5142755" cy="769441"/>
          </a:xfrm>
          <a:prstGeom prst="rect">
            <a:avLst/>
          </a:prstGeom>
          <a:noFill/>
        </p:spPr>
        <p:txBody>
          <a:bodyPr wrap="none" lIns="91440" tIns="45720" rIns="91440" bIns="45720">
            <a:spAutoFit/>
          </a:bodyPr>
          <a:lstStyle/>
          <a:p>
            <a:pPr algn="ctr"/>
            <a:r>
              <a:rPr lang="en-US" sz="4400" b="0" cap="none" spc="0" dirty="0" smtClean="0">
                <a:ln w="0"/>
                <a:solidFill>
                  <a:srgbClr val="0070C0"/>
                </a:solidFill>
                <a:effectLst>
                  <a:outerShdw blurRad="38100" dist="19050" dir="2700000" algn="tl" rotWithShape="0">
                    <a:schemeClr val="dk1">
                      <a:alpha val="40000"/>
                    </a:schemeClr>
                  </a:outerShdw>
                </a:effectLst>
                <a:latin typeface="Microsoft Sans Serif" panose="020B0604020202020204" pitchFamily="34" charset="0"/>
                <a:ea typeface="Microsoft Sans Serif" panose="020B0604020202020204" pitchFamily="34" charset="0"/>
                <a:cs typeface="Microsoft Sans Serif" panose="020B0604020202020204" pitchFamily="34" charset="0"/>
              </a:rPr>
              <a:t>Kelebogile Gopane </a:t>
            </a:r>
            <a:endParaRPr lang="en-US" sz="4400" b="0" cap="none" spc="0" dirty="0">
              <a:ln w="0"/>
              <a:solidFill>
                <a:srgbClr val="0070C0"/>
              </a:solidFill>
              <a:effectLst>
                <a:outerShdw blurRad="38100" dist="19050" dir="2700000" algn="tl" rotWithShape="0">
                  <a:schemeClr val="dk1">
                    <a:alpha val="40000"/>
                  </a:schemeClr>
                </a:outerShdw>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9" name="Rectangle 8"/>
          <p:cNvSpPr/>
          <p:nvPr/>
        </p:nvSpPr>
        <p:spPr>
          <a:xfrm>
            <a:off x="3383630" y="83039"/>
            <a:ext cx="5588005" cy="1200329"/>
          </a:xfrm>
          <a:prstGeom prst="rect">
            <a:avLst/>
          </a:prstGeom>
          <a:noFill/>
        </p:spPr>
        <p:txBody>
          <a:bodyPr wrap="none" lIns="91440" tIns="45720" rIns="91440" bIns="45720">
            <a:spAutoFit/>
          </a:bodyPr>
          <a:lstStyle/>
          <a:p>
            <a:pPr algn="ctr"/>
            <a:r>
              <a:rPr lang="en-US" sz="7200" dirty="0" smtClean="0">
                <a:ln w="0"/>
                <a:solidFill>
                  <a:srgbClr val="0070C0"/>
                </a:solidFill>
                <a:effectLst>
                  <a:outerShdw blurRad="38100" dist="19050" dir="2700000" algn="tl" rotWithShape="0">
                    <a:schemeClr val="dk1">
                      <a:alpha val="40000"/>
                    </a:schemeClr>
                  </a:outerShdw>
                </a:effectLst>
              </a:rPr>
              <a:t>NextGen Tech</a:t>
            </a:r>
            <a:r>
              <a:rPr lang="en-US" sz="7200" b="0" cap="none" spc="0" dirty="0" smtClean="0">
                <a:ln w="0"/>
                <a:solidFill>
                  <a:srgbClr val="0070C0"/>
                </a:solidFill>
                <a:effectLst>
                  <a:outerShdw blurRad="38100" dist="19050" dir="2700000" algn="tl" rotWithShape="0">
                    <a:schemeClr val="dk1">
                      <a:alpha val="40000"/>
                    </a:schemeClr>
                  </a:outerShdw>
                </a:effectLst>
              </a:rPr>
              <a:t> </a:t>
            </a:r>
            <a:endParaRPr lang="en-US" sz="7200" b="0" cap="none" spc="0" dirty="0">
              <a:ln w="0"/>
              <a:solidFill>
                <a:srgbClr val="0070C0"/>
              </a:solidFill>
              <a:effectLst>
                <a:outerShdw blurRad="38100" dist="19050" dir="2700000" algn="tl" rotWithShape="0">
                  <a:schemeClr val="dk1">
                    <a:alpha val="40000"/>
                  </a:schemeClr>
                </a:outerShdw>
              </a:effectLst>
            </a:endParaRPr>
          </a:p>
        </p:txBody>
      </p:sp>
      <p:sp>
        <p:nvSpPr>
          <p:cNvPr id="10" name="Rectangle 9"/>
          <p:cNvSpPr/>
          <p:nvPr/>
        </p:nvSpPr>
        <p:spPr>
          <a:xfrm>
            <a:off x="7505369" y="3047773"/>
            <a:ext cx="4567276" cy="769441"/>
          </a:xfrm>
          <a:prstGeom prst="rect">
            <a:avLst/>
          </a:prstGeom>
          <a:noFill/>
        </p:spPr>
        <p:txBody>
          <a:bodyPr wrap="none" lIns="91440" tIns="45720" rIns="91440" bIns="45720">
            <a:spAutoFit/>
          </a:bodyPr>
          <a:lstStyle/>
          <a:p>
            <a:pPr algn="ctr"/>
            <a:r>
              <a:rPr lang="en-US" sz="4400" b="0" cap="none" spc="0" dirty="0" smtClean="0">
                <a:ln w="0"/>
                <a:solidFill>
                  <a:srgbClr val="0070C0"/>
                </a:solidFill>
                <a:effectLst>
                  <a:outerShdw blurRad="38100" dist="19050" dir="2700000" algn="tl" rotWithShape="0">
                    <a:schemeClr val="dk1">
                      <a:alpha val="40000"/>
                    </a:schemeClr>
                  </a:outerShdw>
                </a:effectLst>
              </a:rPr>
              <a:t>23 November 2025</a:t>
            </a:r>
            <a:endParaRPr lang="en-US" sz="4400" b="0" cap="none" spc="0" dirty="0">
              <a:ln w="0"/>
              <a:solidFill>
                <a:srgbClr val="0070C0"/>
              </a:solidFill>
              <a:effectLst>
                <a:outerShdw blurRad="38100" dist="19050" dir="2700000" algn="tl" rotWithShape="0">
                  <a:schemeClr val="dk1">
                    <a:alpha val="40000"/>
                  </a:schemeClr>
                </a:outerShdw>
              </a:effectLst>
            </a:endParaRPr>
          </a:p>
        </p:txBody>
      </p:sp>
      <p:sp>
        <p:nvSpPr>
          <p:cNvPr id="11" name="Rectangle 10"/>
          <p:cNvSpPr/>
          <p:nvPr/>
        </p:nvSpPr>
        <p:spPr>
          <a:xfrm>
            <a:off x="885891" y="1559978"/>
            <a:ext cx="10583475" cy="923330"/>
          </a:xfrm>
          <a:prstGeom prst="rect">
            <a:avLst/>
          </a:prstGeom>
          <a:noFill/>
        </p:spPr>
        <p:txBody>
          <a:bodyPr wrap="none" lIns="91440" tIns="45720" rIns="91440" bIns="45720">
            <a:spAutoFit/>
          </a:bodyPr>
          <a:lstStyle/>
          <a:p>
            <a:pPr algn="ctr"/>
            <a:r>
              <a:rPr lang="en-US" sz="5400" b="0" cap="none" spc="0" dirty="0" smtClean="0">
                <a:ln w="0"/>
                <a:solidFill>
                  <a:srgbClr val="0070C0"/>
                </a:solidFill>
                <a:effectLst>
                  <a:outerShdw blurRad="38100" dist="19050" dir="2700000" algn="tl" rotWithShape="0">
                    <a:schemeClr val="dk1">
                      <a:alpha val="40000"/>
                    </a:schemeClr>
                  </a:outerShdw>
                </a:effectLst>
              </a:rPr>
              <a:t>Your vision, our tech, smart solutions</a:t>
            </a:r>
            <a:endParaRPr lang="en-US" sz="5400" b="0" cap="none" spc="0" dirty="0">
              <a:ln w="0"/>
              <a:solidFill>
                <a:srgbClr val="0070C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40274580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
            <a:ext cx="12192000" cy="6858000"/>
          </a:xfrm>
        </p:spPr>
        <p:txBody>
          <a:bodyPr>
            <a:normAutofit/>
          </a:bodyPr>
          <a:lstStyle/>
          <a:p>
            <a:pPr algn="l"/>
            <a:r>
              <a:rPr lang="en-US" dirty="0" smtClean="0">
                <a:latin typeface="Microsoft Sans Serif" panose="020B0604020202020204" pitchFamily="34" charset="0"/>
                <a:ea typeface="Microsoft Sans Serif" panose="020B0604020202020204" pitchFamily="34" charset="0"/>
                <a:cs typeface="Microsoft Sans Serif" panose="020B0604020202020204" pitchFamily="34" charset="0"/>
              </a:rPr>
              <a:t>The presentation is going to show you </a:t>
            </a:r>
            <a:r>
              <a:rPr lang="en-US" dirty="0" smtClean="0">
                <a:latin typeface="Microsoft Sans Serif" panose="020B0604020202020204" pitchFamily="34" charset="0"/>
                <a:ea typeface="Microsoft Sans Serif" panose="020B0604020202020204" pitchFamily="34" charset="0"/>
                <a:cs typeface="Microsoft Sans Serif" panose="020B0604020202020204" pitchFamily="34" charset="0"/>
              </a:rPr>
              <a:t>how </a:t>
            </a:r>
            <a:r>
              <a:rPr lang="en-US" dirty="0" smtClean="0">
                <a:latin typeface="Microsoft Sans Serif" panose="020B0604020202020204" pitchFamily="34" charset="0"/>
                <a:ea typeface="Microsoft Sans Serif" panose="020B0604020202020204" pitchFamily="34" charset="0"/>
                <a:cs typeface="Microsoft Sans Serif" panose="020B0604020202020204" pitchFamily="34" charset="0"/>
              </a:rPr>
              <a:t>NextGen Tech </a:t>
            </a:r>
            <a:r>
              <a:rPr lang="en-US" dirty="0" smtClean="0">
                <a:latin typeface="Microsoft Sans Serif" panose="020B0604020202020204" pitchFamily="34" charset="0"/>
                <a:ea typeface="Microsoft Sans Serif" panose="020B0604020202020204" pitchFamily="34" charset="0"/>
                <a:cs typeface="Microsoft Sans Serif" panose="020B0604020202020204" pitchFamily="34" charset="0"/>
              </a:rPr>
              <a:t>work </a:t>
            </a:r>
            <a:r>
              <a:rPr lang="en-US" dirty="0" smtClean="0">
                <a:latin typeface="Microsoft Sans Serif" panose="020B0604020202020204" pitchFamily="34" charset="0"/>
                <a:ea typeface="Microsoft Sans Serif" panose="020B0604020202020204" pitchFamily="34" charset="0"/>
                <a:cs typeface="Microsoft Sans Serif" panose="020B0604020202020204" pitchFamily="34" charset="0"/>
              </a:rPr>
              <a:t>to solve real world problem for people who are every passionate about how technology works and understand its purpose in the current generation and economy we live in.</a:t>
            </a:r>
          </a:p>
          <a:p>
            <a:pPr algn="l"/>
            <a:endParaRPr lang="en-US" dirty="0" smtClean="0">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l"/>
            <a:r>
              <a:rPr lang="en-US" dirty="0" smtClean="0">
                <a:latin typeface="Microsoft Sans Serif" panose="020B0604020202020204" pitchFamily="34" charset="0"/>
                <a:ea typeface="Microsoft Sans Serif" panose="020B0604020202020204" pitchFamily="34" charset="0"/>
                <a:cs typeface="Microsoft Sans Serif" panose="020B0604020202020204" pitchFamily="34" charset="0"/>
              </a:rPr>
              <a:t>This presentation will cover:</a:t>
            </a:r>
          </a:p>
          <a:p>
            <a:pPr marL="457200" indent="-457200" algn="l">
              <a:buFont typeface="Wingdings" panose="05000000000000000000" pitchFamily="2" charset="2"/>
              <a:buChar char="Ø"/>
            </a:pPr>
            <a:r>
              <a:rPr lang="en-US" dirty="0" smtClean="0">
                <a:latin typeface="Microsoft Sans Serif" panose="020B0604020202020204" pitchFamily="34" charset="0"/>
                <a:ea typeface="Microsoft Sans Serif" panose="020B0604020202020204" pitchFamily="34" charset="0"/>
                <a:cs typeface="Microsoft Sans Serif" panose="020B0604020202020204" pitchFamily="34" charset="0"/>
              </a:rPr>
              <a:t>The main point of computer and coding literacy existence – Why it matters.</a:t>
            </a:r>
          </a:p>
          <a:p>
            <a:pPr marL="457200" indent="-457200" algn="l">
              <a:buFont typeface="Wingdings" panose="05000000000000000000" pitchFamily="2" charset="2"/>
              <a:buChar char="Ø"/>
            </a:pPr>
            <a:r>
              <a:rPr lang="en-US" dirty="0" smtClean="0">
                <a:latin typeface="Microsoft Sans Serif" panose="020B0604020202020204" pitchFamily="34" charset="0"/>
                <a:ea typeface="Microsoft Sans Serif" panose="020B0604020202020204" pitchFamily="34" charset="0"/>
                <a:cs typeface="Microsoft Sans Serif" panose="020B0604020202020204" pitchFamily="34" charset="0"/>
              </a:rPr>
              <a:t>The solution we have applied to solve the problem.</a:t>
            </a:r>
          </a:p>
          <a:p>
            <a:pPr marL="457200" indent="-457200" algn="l">
              <a:buFont typeface="Wingdings" panose="05000000000000000000" pitchFamily="2" charset="2"/>
              <a:buChar char="Ø"/>
            </a:pPr>
            <a:r>
              <a:rPr lang="en-US" dirty="0" smtClean="0">
                <a:latin typeface="Microsoft Sans Serif" panose="020B0604020202020204" pitchFamily="34" charset="0"/>
                <a:ea typeface="Microsoft Sans Serif" panose="020B0604020202020204" pitchFamily="34" charset="0"/>
                <a:cs typeface="Microsoft Sans Serif" panose="020B0604020202020204" pitchFamily="34" charset="0"/>
              </a:rPr>
              <a:t>Our </a:t>
            </a:r>
            <a:r>
              <a:rPr lang="en-US" dirty="0" smtClean="0">
                <a:latin typeface="Microsoft Sans Serif" panose="020B0604020202020204" pitchFamily="34" charset="0"/>
                <a:ea typeface="Microsoft Sans Serif" panose="020B0604020202020204" pitchFamily="34" charset="0"/>
                <a:cs typeface="Microsoft Sans Serif" panose="020B0604020202020204" pitchFamily="34" charset="0"/>
              </a:rPr>
              <a:t>branding identity.</a:t>
            </a:r>
          </a:p>
          <a:p>
            <a:pPr marL="457200" indent="-457200" algn="l">
              <a:buFont typeface="Wingdings" panose="05000000000000000000" pitchFamily="2" charset="2"/>
              <a:buChar char="Ø"/>
            </a:pPr>
            <a:r>
              <a:rPr lang="en-US" dirty="0" smtClean="0">
                <a:latin typeface="Microsoft Sans Serif" panose="020B0604020202020204" pitchFamily="34" charset="0"/>
                <a:ea typeface="Microsoft Sans Serif" panose="020B0604020202020204" pitchFamily="34" charset="0"/>
                <a:cs typeface="Microsoft Sans Serif" panose="020B0604020202020204" pitchFamily="34" charset="0"/>
              </a:rPr>
              <a:t>Channels we will use for marketing.</a:t>
            </a:r>
          </a:p>
          <a:p>
            <a:pPr algn="l"/>
            <a:endParaRPr lang="en-US"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88677" y="3158565"/>
            <a:ext cx="5958625" cy="3403221"/>
          </a:xfrm>
          <a:prstGeom prst="rect">
            <a:avLst/>
          </a:prstGeom>
        </p:spPr>
      </p:pic>
    </p:spTree>
    <p:extLst>
      <p:ext uri="{BB962C8B-B14F-4D97-AF65-F5344CB8AC3E}">
        <p14:creationId xmlns:p14="http://schemas.microsoft.com/office/powerpoint/2010/main" val="24293756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88908" y="0"/>
            <a:ext cx="7044372" cy="797560"/>
          </a:xfrm>
        </p:spPr>
        <p:txBody>
          <a:bodyPr>
            <a:normAutofit/>
          </a:bodyPr>
          <a:lstStyle/>
          <a:p>
            <a:pPr algn="ctr"/>
            <a:r>
              <a:rPr lang="en-US" sz="4400" b="1" dirty="0" smtClean="0"/>
              <a:t>The Challenge We Are Solving</a:t>
            </a:r>
            <a:endParaRPr lang="en-US" sz="4400" b="1" dirty="0"/>
          </a:p>
        </p:txBody>
      </p:sp>
      <p:sp>
        <p:nvSpPr>
          <p:cNvPr id="4" name="Text Placeholder 3"/>
          <p:cNvSpPr>
            <a:spLocks noGrp="1"/>
          </p:cNvSpPr>
          <p:nvPr>
            <p:ph type="body" sz="half" idx="2"/>
          </p:nvPr>
        </p:nvSpPr>
        <p:spPr>
          <a:xfrm>
            <a:off x="190622" y="1557159"/>
            <a:ext cx="5313680" cy="5085120"/>
          </a:xfrm>
        </p:spPr>
        <p:txBody>
          <a:bodyPr>
            <a:noAutofit/>
          </a:bodyPr>
          <a:lstStyle/>
          <a:p>
            <a:r>
              <a:rPr lang="en-US" sz="1800" dirty="0" smtClean="0">
                <a:latin typeface="Microsoft Sans Serif" panose="020B0604020202020204" pitchFamily="34" charset="0"/>
                <a:ea typeface="Microsoft Sans Serif" panose="020B0604020202020204" pitchFamily="34" charset="0"/>
                <a:cs typeface="Microsoft Sans Serif" panose="020B0604020202020204" pitchFamily="34" charset="0"/>
              </a:rPr>
              <a:t>We as </a:t>
            </a:r>
            <a:r>
              <a:rPr lang="en-US" sz="1800" dirty="0" smtClean="0">
                <a:latin typeface="Microsoft Sans Serif" panose="020B0604020202020204" pitchFamily="34" charset="0"/>
                <a:ea typeface="Microsoft Sans Serif" panose="020B0604020202020204" pitchFamily="34" charset="0"/>
                <a:cs typeface="Microsoft Sans Serif" panose="020B0604020202020204" pitchFamily="34" charset="0"/>
              </a:rPr>
              <a:t>NextGen Tech</a:t>
            </a:r>
            <a:r>
              <a:rPr lang="en-US" sz="1800" dirty="0" smtClean="0">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800" dirty="0" smtClean="0">
                <a:latin typeface="Microsoft Sans Serif" panose="020B0604020202020204" pitchFamily="34" charset="0"/>
                <a:ea typeface="Microsoft Sans Serif" panose="020B0604020202020204" pitchFamily="34" charset="0"/>
                <a:cs typeface="Microsoft Sans Serif" panose="020B0604020202020204" pitchFamily="34" charset="0"/>
              </a:rPr>
              <a:t>have realized that most people in this generation, do not have that much understanding about using computers and applying coding skills to design their own website, apps, etc</a:t>
            </a:r>
            <a:r>
              <a:rPr lang="en-US" sz="1800" dirty="0" smtClean="0">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endParaRPr>
          </a:p>
          <a:p>
            <a:r>
              <a:rPr lang="en-US" sz="1800" dirty="0" smtClean="0">
                <a:latin typeface="Microsoft Sans Serif" panose="020B0604020202020204" pitchFamily="34" charset="0"/>
                <a:ea typeface="Microsoft Sans Serif" panose="020B0604020202020204" pitchFamily="34" charset="0"/>
                <a:cs typeface="Microsoft Sans Serif" panose="020B0604020202020204" pitchFamily="34" charset="0"/>
              </a:rPr>
              <a:t>That contributes to the increased percentage of about 66% in Africa’s population that are computer illiterate or those who clearly do not know which steps or programming languages they should use to complete their daily task</a:t>
            </a:r>
            <a:r>
              <a:rPr lang="en-US" sz="1800" dirty="0" smtClean="0">
                <a:latin typeface="Microsoft Sans Serif" panose="020B0604020202020204" pitchFamily="34" charset="0"/>
                <a:ea typeface="Microsoft Sans Serif" panose="020B0604020202020204" pitchFamily="34" charset="0"/>
                <a:cs typeface="Microsoft Sans Serif" panose="020B0604020202020204" pitchFamily="34" charset="0"/>
              </a:rPr>
              <a:t>.</a:t>
            </a:r>
          </a:p>
          <a:p>
            <a:r>
              <a:rPr lang="en-US" sz="1800" dirty="0" smtClean="0">
                <a:latin typeface="Microsoft Sans Serif" panose="020B0604020202020204" pitchFamily="34" charset="0"/>
                <a:ea typeface="Microsoft Sans Serif" panose="020B0604020202020204" pitchFamily="34" charset="0"/>
                <a:cs typeface="Microsoft Sans Serif" panose="020B0604020202020204" pitchFamily="34" charset="0"/>
              </a:rPr>
              <a:t>Considering the future, we noticed that our economy started to slowly depend on technology. We see how most of the companies hire people who are computer literate people and in tech companies, they now hire people how have experience in designing, developing and protecting systems and that is the kind of future we want to secure for next generation.</a:t>
            </a:r>
            <a:endParaRPr lang="en-US" sz="1800" dirty="0" smtClean="0">
              <a:latin typeface="Microsoft Sans Serif" panose="020B0604020202020204" pitchFamily="34" charset="0"/>
              <a:ea typeface="Microsoft Sans Serif" panose="020B0604020202020204" pitchFamily="34" charset="0"/>
              <a:cs typeface="Microsoft Sans Serif" panose="020B0604020202020204" pitchFamily="34" charset="0"/>
            </a:endParaRPr>
          </a:p>
          <a:p>
            <a:endParaRPr lang="en-US" sz="1800" dirty="0" smtClean="0">
              <a:latin typeface="Microsoft Sans Serif" panose="020B0604020202020204" pitchFamily="34" charset="0"/>
              <a:ea typeface="Microsoft Sans Serif" panose="020B0604020202020204" pitchFamily="34" charset="0"/>
              <a:cs typeface="Microsoft Sans Serif" panose="020B0604020202020204" pitchFamily="34" charset="0"/>
            </a:endParaRPr>
          </a:p>
          <a:p>
            <a:endParaRPr lang="en-US" sz="1800" dirty="0" smtClean="0">
              <a:latin typeface="Microsoft Sans Serif" panose="020B0604020202020204" pitchFamily="34" charset="0"/>
              <a:ea typeface="Microsoft Sans Serif" panose="020B0604020202020204" pitchFamily="34" charset="0"/>
              <a:cs typeface="Microsoft Sans Serif" panose="020B0604020202020204" pitchFamily="34" charset="0"/>
            </a:endParaRPr>
          </a:p>
          <a:p>
            <a:endParaRPr lang="en-US" sz="1800" dirty="0"/>
          </a:p>
        </p:txBody>
      </p:sp>
      <p:pic>
        <p:nvPicPr>
          <p:cNvPr id="7" name="Picture Placeholder 6" descr="Confused &lt;strong&gt;Computer&lt;/strong&gt; Images – Browse 59,540 Stock Photos, Vectors, and ..."/>
          <p:cNvPicPr>
            <a:picLocks noGrp="1" noChangeAspect="1"/>
          </p:cNvPicPr>
          <p:nvPr>
            <p:ph type="pic" idx="1"/>
          </p:nvPr>
        </p:nvPicPr>
        <p:blipFill>
          <a:blip r:embed="rId2">
            <a:extLst>
              <a:ext uri="{28A0092B-C50C-407E-A947-70E740481C1C}">
                <a14:useLocalDpi xmlns:a14="http://schemas.microsoft.com/office/drawing/2010/main" val="0"/>
              </a:ext>
            </a:extLst>
          </a:blip>
          <a:srcRect l="12072" r="12072"/>
          <a:stretch>
            <a:fillRect/>
          </a:stretch>
        </p:blipFill>
        <p:spPr>
          <a:xfrm>
            <a:off x="5994400" y="1341438"/>
            <a:ext cx="6197600" cy="5516562"/>
          </a:xfrm>
        </p:spPr>
      </p:pic>
    </p:spTree>
    <p:extLst>
      <p:ext uri="{BB962C8B-B14F-4D97-AF65-F5344CB8AC3E}">
        <p14:creationId xmlns:p14="http://schemas.microsoft.com/office/powerpoint/2010/main" val="301686009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1575" y="0"/>
            <a:ext cx="8458517" cy="751788"/>
          </a:xfrm>
        </p:spPr>
        <p:txBody>
          <a:bodyPr>
            <a:normAutofit/>
          </a:bodyPr>
          <a:lstStyle/>
          <a:p>
            <a:pPr algn="ctr"/>
            <a:r>
              <a:rPr lang="en-US" sz="4400" b="1" dirty="0" smtClean="0"/>
              <a:t>From Issue to Impact: Our Approach</a:t>
            </a:r>
            <a:endParaRPr lang="en-US" sz="4400" b="1" dirty="0"/>
          </a:p>
        </p:txBody>
      </p:sp>
      <p:pic>
        <p:nvPicPr>
          <p:cNvPr id="5" name="Content Placeholder 4" descr="Good &lt;strong&gt;idea&lt;/strong&gt; Stock Photos, Royalty Free Good &lt;strong&gt;idea&lt;/strong&gt; Images | Depositphotos"/>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04495" y="1305612"/>
            <a:ext cx="5687505" cy="4802957"/>
          </a:xfrm>
        </p:spPr>
      </p:pic>
      <p:sp>
        <p:nvSpPr>
          <p:cNvPr id="4" name="Text Placeholder 3"/>
          <p:cNvSpPr>
            <a:spLocks noGrp="1"/>
          </p:cNvSpPr>
          <p:nvPr>
            <p:ph type="body" sz="half" idx="2"/>
          </p:nvPr>
        </p:nvSpPr>
        <p:spPr>
          <a:xfrm>
            <a:off x="218941" y="1340166"/>
            <a:ext cx="5731497" cy="4768403"/>
          </a:xfrm>
        </p:spPr>
        <p:txBody>
          <a:bodyPr>
            <a:normAutofit/>
          </a:bodyPr>
          <a:lstStyle/>
          <a:p>
            <a:r>
              <a:rPr lang="en-US" sz="2000" dirty="0" smtClean="0">
                <a:latin typeface="Microsoft Sans Serif" panose="020B0604020202020204" pitchFamily="34" charset="0"/>
                <a:ea typeface="Microsoft Sans Serif" panose="020B0604020202020204" pitchFamily="34" charset="0"/>
                <a:cs typeface="Microsoft Sans Serif" panose="020B0604020202020204" pitchFamily="34" charset="0"/>
              </a:rPr>
              <a:t>We give the future developers and programmers the opportunity to get funding.</a:t>
            </a:r>
          </a:p>
          <a:p>
            <a:r>
              <a:rPr lang="en-US" sz="2000" dirty="0" smtClean="0">
                <a:latin typeface="Microsoft Sans Serif" panose="020B0604020202020204" pitchFamily="34" charset="0"/>
                <a:ea typeface="Microsoft Sans Serif" panose="020B0604020202020204" pitchFamily="34" charset="0"/>
                <a:cs typeface="Microsoft Sans Serif" panose="020B0604020202020204" pitchFamily="34" charset="0"/>
              </a:rPr>
              <a:t>They will learn more about how technology operates and how they will get themselves a few steps ahead to be as technology continues to evolve within 2 years.</a:t>
            </a:r>
          </a:p>
          <a:p>
            <a:r>
              <a:rPr lang="en-US" sz="2000" dirty="0" smtClean="0">
                <a:latin typeface="Microsoft Sans Serif" panose="020B0604020202020204" pitchFamily="34" charset="0"/>
                <a:ea typeface="Microsoft Sans Serif" panose="020B0604020202020204" pitchFamily="34" charset="0"/>
                <a:cs typeface="Microsoft Sans Serif" panose="020B0604020202020204" pitchFamily="34" charset="0"/>
              </a:rPr>
              <a:t>What sets us apart </a:t>
            </a:r>
            <a:r>
              <a:rPr lang="en-US" sz="2000" dirty="0" smtClean="0">
                <a:latin typeface="Microsoft Sans Serif" panose="020B0604020202020204" pitchFamily="34" charset="0"/>
                <a:ea typeface="Microsoft Sans Serif" panose="020B0604020202020204" pitchFamily="34" charset="0"/>
                <a:cs typeface="Microsoft Sans Serif" panose="020B0604020202020204" pitchFamily="34" charset="0"/>
              </a:rPr>
              <a:t>:</a:t>
            </a:r>
          </a:p>
          <a:p>
            <a:r>
              <a:rPr lang="en-US" sz="2000" dirty="0" smtClean="0">
                <a:latin typeface="Microsoft Sans Serif" panose="020B0604020202020204" pitchFamily="34" charset="0"/>
                <a:ea typeface="Microsoft Sans Serif" panose="020B0604020202020204" pitchFamily="34" charset="0"/>
                <a:cs typeface="Microsoft Sans Serif" panose="020B0604020202020204" pitchFamily="34" charset="0"/>
              </a:rPr>
              <a:t>We have built AI systems that prioritizes the updates of newly designed softwares in real time and that enable us to use them once they are released.</a:t>
            </a:r>
          </a:p>
          <a:p>
            <a:r>
              <a:rPr lang="en-US" sz="2000" dirty="0" smtClean="0">
                <a:latin typeface="Microsoft Sans Serif" panose="020B0604020202020204" pitchFamily="34" charset="0"/>
                <a:ea typeface="Microsoft Sans Serif" panose="020B0604020202020204" pitchFamily="34" charset="0"/>
                <a:cs typeface="Microsoft Sans Serif" panose="020B0604020202020204" pitchFamily="34" charset="0"/>
              </a:rPr>
              <a:t>We challenge ou</a:t>
            </a:r>
            <a:r>
              <a:rPr lang="en-US" sz="2000" dirty="0" smtClean="0">
                <a:latin typeface="Microsoft Sans Serif" panose="020B0604020202020204" pitchFamily="34" charset="0"/>
                <a:ea typeface="Microsoft Sans Serif" panose="020B0604020202020204" pitchFamily="34" charset="0"/>
                <a:cs typeface="Microsoft Sans Serif" panose="020B0604020202020204" pitchFamily="34" charset="0"/>
              </a:rPr>
              <a:t>r young developers and programmers to design what they think will be very helpful to our society.</a:t>
            </a:r>
          </a:p>
          <a:p>
            <a:endParaRPr lang="en-US" sz="2000" dirty="0" smtClean="0">
              <a:latin typeface="Microsoft Sans Serif" panose="020B0604020202020204" pitchFamily="34" charset="0"/>
              <a:ea typeface="Microsoft Sans Serif" panose="020B0604020202020204" pitchFamily="34" charset="0"/>
              <a:cs typeface="Microsoft Sans Serif" panose="020B0604020202020204" pitchFamily="34" charset="0"/>
            </a:endParaRPr>
          </a:p>
          <a:p>
            <a:endParaRPr lang="en-US" sz="2000" dirty="0" smtClean="0">
              <a:latin typeface="Microsoft Sans Serif" panose="020B0604020202020204" pitchFamily="34" charset="0"/>
              <a:ea typeface="Microsoft Sans Serif" panose="020B0604020202020204" pitchFamily="34" charset="0"/>
              <a:cs typeface="Microsoft Sans Serif" panose="020B0604020202020204" pitchFamily="34" charset="0"/>
            </a:endParaRPr>
          </a:p>
          <a:p>
            <a:endParaRPr lang="en-US" sz="2000"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4433009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57982" y="0"/>
            <a:ext cx="3932237" cy="724437"/>
          </a:xfrm>
        </p:spPr>
        <p:txBody>
          <a:bodyPr>
            <a:normAutofit/>
          </a:bodyPr>
          <a:lstStyle/>
          <a:p>
            <a:pPr algn="ctr"/>
            <a:r>
              <a:rPr lang="en-US" sz="4400" b="1" dirty="0" smtClean="0"/>
              <a:t>Brand Identity</a:t>
            </a:r>
            <a:endParaRPr lang="en-US" sz="4400" b="1" dirty="0"/>
          </a:p>
        </p:txBody>
      </p:sp>
      <p:sp>
        <p:nvSpPr>
          <p:cNvPr id="4" name="Text Placeholder 3"/>
          <p:cNvSpPr>
            <a:spLocks noGrp="1"/>
          </p:cNvSpPr>
          <p:nvPr>
            <p:ph type="body" sz="half" idx="2"/>
          </p:nvPr>
        </p:nvSpPr>
        <p:spPr>
          <a:xfrm>
            <a:off x="131450" y="1442434"/>
            <a:ext cx="6480804" cy="5329797"/>
          </a:xfrm>
        </p:spPr>
        <p:txBody>
          <a:bodyPr>
            <a:noAutofit/>
          </a:bodyPr>
          <a:lstStyle/>
          <a:p>
            <a:r>
              <a:rPr lang="en-US" sz="1800" dirty="0" smtClean="0">
                <a:latin typeface="Microsoft Sans Serif" panose="020B0604020202020204" pitchFamily="34" charset="0"/>
                <a:ea typeface="Microsoft Sans Serif" panose="020B0604020202020204" pitchFamily="34" charset="0"/>
                <a:cs typeface="Microsoft Sans Serif" panose="020B0604020202020204" pitchFamily="34" charset="0"/>
              </a:rPr>
              <a:t>This company as a SaaS (Software as a Service) startup, Next Gen Tech provides an AI system that caters for every worker’s qualities to work together in one project. Which makes the teams and project’s progress 10x faster than any other tools.</a:t>
            </a:r>
          </a:p>
          <a:p>
            <a:r>
              <a:rPr lang="en-US" sz="1800" dirty="0" smtClean="0">
                <a:latin typeface="Microsoft Sans Serif" panose="020B0604020202020204" pitchFamily="34" charset="0"/>
                <a:ea typeface="Microsoft Sans Serif" panose="020B0604020202020204" pitchFamily="34" charset="0"/>
                <a:cs typeface="Microsoft Sans Serif" panose="020B0604020202020204" pitchFamily="34" charset="0"/>
              </a:rPr>
              <a:t>Most of our uploaded projects and designs will be easily accessible and available in the internet with any search engine such as..</a:t>
            </a:r>
          </a:p>
          <a:p>
            <a:pPr marL="285750" indent="-285750">
              <a:buFont typeface="Arial" panose="020B0604020202020204" pitchFamily="34" charset="0"/>
              <a:buChar char="•"/>
            </a:pPr>
            <a:r>
              <a:rPr lang="en-US" sz="1800" dirty="0" smtClean="0">
                <a:latin typeface="Microsoft Sans Serif" panose="020B0604020202020204" pitchFamily="34" charset="0"/>
                <a:ea typeface="Microsoft Sans Serif" panose="020B0604020202020204" pitchFamily="34" charset="0"/>
                <a:cs typeface="Microsoft Sans Serif" panose="020B0604020202020204" pitchFamily="34" charset="0"/>
              </a:rPr>
              <a:t>Google Chrome</a:t>
            </a:r>
          </a:p>
          <a:p>
            <a:pPr marL="285750" indent="-285750">
              <a:buFont typeface="Arial" panose="020B0604020202020204" pitchFamily="34" charset="0"/>
              <a:buChar char="•"/>
            </a:pPr>
            <a:r>
              <a:rPr lang="en-US" sz="1800" dirty="0" smtClean="0">
                <a:latin typeface="Microsoft Sans Serif" panose="020B0604020202020204" pitchFamily="34" charset="0"/>
                <a:ea typeface="Microsoft Sans Serif" panose="020B0604020202020204" pitchFamily="34" charset="0"/>
                <a:cs typeface="Microsoft Sans Serif" panose="020B0604020202020204" pitchFamily="34" charset="0"/>
              </a:rPr>
              <a:t>Safari</a:t>
            </a:r>
          </a:p>
          <a:p>
            <a:pPr marL="285750" indent="-285750">
              <a:buFont typeface="Arial" panose="020B0604020202020204" pitchFamily="34" charset="0"/>
              <a:buChar char="•"/>
            </a:pPr>
            <a:r>
              <a:rPr lang="en-US" sz="1800" dirty="0" smtClean="0">
                <a:latin typeface="Microsoft Sans Serif" panose="020B0604020202020204" pitchFamily="34" charset="0"/>
                <a:ea typeface="Microsoft Sans Serif" panose="020B0604020202020204" pitchFamily="34" charset="0"/>
                <a:cs typeface="Microsoft Sans Serif" panose="020B0604020202020204" pitchFamily="34" charset="0"/>
              </a:rPr>
              <a:t>FireFox</a:t>
            </a:r>
          </a:p>
          <a:p>
            <a:pPr marL="285750" indent="-285750">
              <a:buFont typeface="Arial" panose="020B0604020202020204" pitchFamily="34" charset="0"/>
              <a:buChar char="•"/>
            </a:pPr>
            <a:r>
              <a:rPr lang="en-US" sz="1800" dirty="0" smtClean="0">
                <a:latin typeface="Microsoft Sans Serif" panose="020B0604020202020204" pitchFamily="34" charset="0"/>
                <a:ea typeface="Microsoft Sans Serif" panose="020B0604020202020204" pitchFamily="34" charset="0"/>
                <a:cs typeface="Microsoft Sans Serif" panose="020B0604020202020204" pitchFamily="34" charset="0"/>
              </a:rPr>
              <a:t>Microsoft Edge </a:t>
            </a:r>
            <a:endPar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285750" indent="-285750">
              <a:buFont typeface="Arial" panose="020B0604020202020204" pitchFamily="34" charset="0"/>
              <a:buChar char="•"/>
            </a:pPr>
            <a:r>
              <a:rPr lang="en-US" sz="1800" dirty="0" smtClean="0">
                <a:latin typeface="Microsoft Sans Serif" panose="020B0604020202020204" pitchFamily="34" charset="0"/>
                <a:ea typeface="Microsoft Sans Serif" panose="020B0604020202020204" pitchFamily="34" charset="0"/>
                <a:cs typeface="Microsoft Sans Serif" panose="020B0604020202020204" pitchFamily="34" charset="0"/>
              </a:rPr>
              <a:t>And many more..</a:t>
            </a:r>
          </a:p>
          <a:p>
            <a:r>
              <a:rPr lang="en-US" sz="1800" dirty="0" smtClean="0">
                <a:latin typeface="Microsoft Sans Serif" panose="020B0604020202020204" pitchFamily="34" charset="0"/>
                <a:ea typeface="Microsoft Sans Serif" panose="020B0604020202020204" pitchFamily="34" charset="0"/>
                <a:cs typeface="Microsoft Sans Serif" panose="020B0604020202020204" pitchFamily="34" charset="0"/>
              </a:rPr>
              <a:t>Our objective is to make sure that our work is compatible to be used with every operating systems and versions. Of which we test them first before releasing them to the public or world. This guarantees us that no customer or user will experience any troubleshoots while using our tools.</a:t>
            </a:r>
          </a:p>
        </p:txBody>
      </p:sp>
      <p:sp>
        <p:nvSpPr>
          <p:cNvPr id="7" name="Freeform 6"/>
          <p:cNvSpPr/>
          <p:nvPr/>
        </p:nvSpPr>
        <p:spPr>
          <a:xfrm>
            <a:off x="7939543" y="724437"/>
            <a:ext cx="3102278" cy="2714737"/>
          </a:xfrm>
          <a:custGeom>
            <a:avLst/>
            <a:gdLst>
              <a:gd name="connsiteX0" fmla="*/ 1526433 w 3102278"/>
              <a:gd name="connsiteY0" fmla="*/ 235554 h 2737790"/>
              <a:gd name="connsiteX1" fmla="*/ 257864 w 3102278"/>
              <a:gd name="connsiteY1" fmla="*/ 1368895 h 2737790"/>
              <a:gd name="connsiteX2" fmla="*/ 1526433 w 3102278"/>
              <a:gd name="connsiteY2" fmla="*/ 2502236 h 2737790"/>
              <a:gd name="connsiteX3" fmla="*/ 2795002 w 3102278"/>
              <a:gd name="connsiteY3" fmla="*/ 1368895 h 2737790"/>
              <a:gd name="connsiteX4" fmla="*/ 1526433 w 3102278"/>
              <a:gd name="connsiteY4" fmla="*/ 235554 h 2737790"/>
              <a:gd name="connsiteX5" fmla="*/ 1551139 w 3102278"/>
              <a:gd name="connsiteY5" fmla="*/ 0 h 2737790"/>
              <a:gd name="connsiteX6" fmla="*/ 3102278 w 3102278"/>
              <a:gd name="connsiteY6" fmla="*/ 1368895 h 2737790"/>
              <a:gd name="connsiteX7" fmla="*/ 1551139 w 3102278"/>
              <a:gd name="connsiteY7" fmla="*/ 2737790 h 2737790"/>
              <a:gd name="connsiteX8" fmla="*/ 0 w 3102278"/>
              <a:gd name="connsiteY8" fmla="*/ 1368895 h 2737790"/>
              <a:gd name="connsiteX9" fmla="*/ 1551139 w 3102278"/>
              <a:gd name="connsiteY9" fmla="*/ 0 h 2737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2278" h="2737790">
                <a:moveTo>
                  <a:pt x="1526433" y="235554"/>
                </a:moveTo>
                <a:cubicBezTo>
                  <a:pt x="825822" y="235554"/>
                  <a:pt x="257864" y="742968"/>
                  <a:pt x="257864" y="1368895"/>
                </a:cubicBezTo>
                <a:cubicBezTo>
                  <a:pt x="257864" y="1994822"/>
                  <a:pt x="825822" y="2502236"/>
                  <a:pt x="1526433" y="2502236"/>
                </a:cubicBezTo>
                <a:cubicBezTo>
                  <a:pt x="2227044" y="2502236"/>
                  <a:pt x="2795002" y="1994822"/>
                  <a:pt x="2795002" y="1368895"/>
                </a:cubicBezTo>
                <a:cubicBezTo>
                  <a:pt x="2795002" y="742968"/>
                  <a:pt x="2227044" y="235554"/>
                  <a:pt x="1526433" y="235554"/>
                </a:cubicBezTo>
                <a:close/>
                <a:moveTo>
                  <a:pt x="1551139" y="0"/>
                </a:moveTo>
                <a:cubicBezTo>
                  <a:pt x="2407809" y="0"/>
                  <a:pt x="3102278" y="612875"/>
                  <a:pt x="3102278" y="1368895"/>
                </a:cubicBezTo>
                <a:cubicBezTo>
                  <a:pt x="3102278" y="2124915"/>
                  <a:pt x="2407809" y="2737790"/>
                  <a:pt x="1551139" y="2737790"/>
                </a:cubicBezTo>
                <a:cubicBezTo>
                  <a:pt x="694469" y="2737790"/>
                  <a:pt x="0" y="2124915"/>
                  <a:pt x="0" y="1368895"/>
                </a:cubicBezTo>
                <a:cubicBezTo>
                  <a:pt x="0" y="612875"/>
                  <a:pt x="694469" y="0"/>
                  <a:pt x="1551139" y="0"/>
                </a:cubicBezTo>
                <a:close/>
              </a:path>
            </a:pathLst>
          </a:custGeom>
          <a:gradFill>
            <a:gsLst>
              <a:gs pos="0">
                <a:srgbClr val="FF0000"/>
              </a:gs>
              <a:gs pos="74000">
                <a:srgbClr val="0070C0"/>
              </a:gs>
              <a:gs pos="48000">
                <a:schemeClr val="tx1"/>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8779686" y="1620140"/>
            <a:ext cx="1421992" cy="923330"/>
          </a:xfrm>
          <a:prstGeom prst="rect">
            <a:avLst/>
          </a:prstGeom>
          <a:noFill/>
          <a:ln>
            <a:solidFill>
              <a:schemeClr val="accent1">
                <a:lumMod val="20000"/>
                <a:lumOff val="80000"/>
              </a:schemeClr>
            </a:solidFill>
          </a:ln>
          <a:effectLst>
            <a:outerShdw blurRad="50800" dist="38100" algn="l" rotWithShape="0">
              <a:prstClr val="black">
                <a:alpha val="40000"/>
              </a:prstClr>
            </a:outerShdw>
          </a:effectLst>
        </p:spPr>
        <p:txBody>
          <a:bodyPr wrap="none" lIns="91440" tIns="45720" rIns="91440" bIns="45720">
            <a:spAutoFit/>
          </a:bodyPr>
          <a:lstStyle/>
          <a:p>
            <a:pPr algn="ctr"/>
            <a:r>
              <a:rPr lang="en-US" sz="5400" b="1" cap="none" spc="0" dirty="0" smtClean="0">
                <a:ln w="13462">
                  <a:solidFill>
                    <a:schemeClr val="tx1">
                      <a:lumMod val="95000"/>
                      <a:lumOff val="5000"/>
                    </a:schemeClr>
                  </a:solidFill>
                  <a:prstDash val="solid"/>
                </a:ln>
                <a:solidFill>
                  <a:schemeClr val="tx1">
                    <a:lumMod val="75000"/>
                    <a:lumOff val="25000"/>
                  </a:schemeClr>
                </a:solidFill>
                <a:effectLst>
                  <a:outerShdw dist="38100" dir="2700000" algn="bl" rotWithShape="0">
                    <a:schemeClr val="accent5"/>
                  </a:outerShdw>
                </a:effectLst>
              </a:rPr>
              <a:t>NGT</a:t>
            </a:r>
            <a:endParaRPr lang="en-US" sz="5400" b="1" cap="none" spc="0" dirty="0">
              <a:ln w="13462">
                <a:solidFill>
                  <a:schemeClr val="tx1">
                    <a:lumMod val="95000"/>
                    <a:lumOff val="5000"/>
                  </a:schemeClr>
                </a:solidFill>
                <a:prstDash val="solid"/>
              </a:ln>
              <a:solidFill>
                <a:schemeClr val="tx1">
                  <a:lumMod val="75000"/>
                  <a:lumOff val="25000"/>
                </a:schemeClr>
              </a:solidFill>
              <a:effectLst>
                <a:outerShdw dist="38100" dir="2700000" algn="bl" rotWithShape="0">
                  <a:schemeClr val="accent5"/>
                </a:outerShdw>
              </a:effectLst>
            </a:endParaRPr>
          </a:p>
        </p:txBody>
      </p:sp>
      <p:sp>
        <p:nvSpPr>
          <p:cNvPr id="10" name="Rectangle 9"/>
          <p:cNvSpPr/>
          <p:nvPr/>
        </p:nvSpPr>
        <p:spPr>
          <a:xfrm>
            <a:off x="7506005" y="3439173"/>
            <a:ext cx="3969356" cy="769441"/>
          </a:xfrm>
          <a:prstGeom prst="rect">
            <a:avLst/>
          </a:prstGeom>
          <a:noFill/>
        </p:spPr>
        <p:txBody>
          <a:bodyPr wrap="none" lIns="91440" tIns="45720" rIns="91440" bIns="45720">
            <a:spAutoFit/>
          </a:bodyPr>
          <a:lstStyle/>
          <a:p>
            <a:pPr algn="ctr"/>
            <a:r>
              <a:rPr lang="en-US" sz="4400" b="1" cap="none" spc="0" dirty="0" smtClean="0">
                <a:ln w="0"/>
                <a:solidFill>
                  <a:srgbClr val="FF0000"/>
                </a:solidFill>
                <a:effectLst>
                  <a:outerShdw blurRad="38100" dist="19050" dir="2700000" algn="tl" rotWithShape="0">
                    <a:schemeClr val="dk1">
                      <a:alpha val="40000"/>
                    </a:schemeClr>
                  </a:outerShdw>
                </a:effectLst>
                <a:latin typeface="Microsoft Sans Serif" panose="020B0604020202020204" pitchFamily="34" charset="0"/>
                <a:ea typeface="Microsoft Sans Serif" panose="020B0604020202020204" pitchFamily="34" charset="0"/>
                <a:cs typeface="Microsoft Sans Serif" panose="020B0604020202020204" pitchFamily="34" charset="0"/>
              </a:rPr>
              <a:t>N</a:t>
            </a:r>
            <a:r>
              <a:rPr lang="en-US" sz="4400" b="1" cap="none" spc="0" dirty="0" smtClean="0">
                <a:ln w="0"/>
                <a:solidFill>
                  <a:schemeClr val="tx1"/>
                </a:solidFill>
                <a:effectLst>
                  <a:outerShdw blurRad="38100" dist="19050" dir="2700000" algn="tl" rotWithShape="0">
                    <a:schemeClr val="dk1">
                      <a:alpha val="40000"/>
                    </a:schemeClr>
                  </a:outerShdw>
                </a:effectLst>
                <a:latin typeface="Microsoft Sans Serif" panose="020B0604020202020204" pitchFamily="34" charset="0"/>
                <a:ea typeface="Microsoft Sans Serif" panose="020B0604020202020204" pitchFamily="34" charset="0"/>
                <a:cs typeface="Microsoft Sans Serif" panose="020B0604020202020204" pitchFamily="34" charset="0"/>
              </a:rPr>
              <a:t>ext Gen </a:t>
            </a:r>
            <a:r>
              <a:rPr lang="en-US" sz="4400" b="1" cap="none" spc="0" dirty="0" smtClean="0">
                <a:ln w="0"/>
                <a:solidFill>
                  <a:srgbClr val="0070C0"/>
                </a:solidFill>
                <a:effectLst>
                  <a:outerShdw blurRad="38100" dist="19050" dir="2700000" algn="tl" rotWithShape="0">
                    <a:schemeClr val="dk1">
                      <a:alpha val="40000"/>
                    </a:schemeClr>
                  </a:outerShdw>
                </a:effectLst>
                <a:latin typeface="Microsoft Sans Serif" panose="020B0604020202020204" pitchFamily="34" charset="0"/>
                <a:ea typeface="Microsoft Sans Serif" panose="020B0604020202020204" pitchFamily="34" charset="0"/>
                <a:cs typeface="Microsoft Sans Serif" panose="020B0604020202020204" pitchFamily="34" charset="0"/>
              </a:rPr>
              <a:t>T</a:t>
            </a:r>
            <a:r>
              <a:rPr lang="en-US" sz="4400" b="1" cap="none" spc="0" dirty="0" smtClean="0">
                <a:ln w="0"/>
                <a:solidFill>
                  <a:schemeClr val="tx1"/>
                </a:solidFill>
                <a:effectLst>
                  <a:outerShdw blurRad="38100" dist="19050" dir="2700000" algn="tl" rotWithShape="0">
                    <a:schemeClr val="dk1">
                      <a:alpha val="40000"/>
                    </a:schemeClr>
                  </a:outerShdw>
                </a:effectLst>
                <a:latin typeface="Microsoft Sans Serif" panose="020B0604020202020204" pitchFamily="34" charset="0"/>
                <a:ea typeface="Microsoft Sans Serif" panose="020B0604020202020204" pitchFamily="34" charset="0"/>
                <a:cs typeface="Microsoft Sans Serif" panose="020B0604020202020204" pitchFamily="34" charset="0"/>
              </a:rPr>
              <a:t>ech</a:t>
            </a:r>
            <a:endParaRPr lang="en-US" sz="4400" b="1" cap="none" spc="0" dirty="0">
              <a:ln w="0"/>
              <a:solidFill>
                <a:schemeClr val="tx1"/>
              </a:solidFill>
              <a:effectLst>
                <a:outerShdw blurRad="38100" dist="19050" dir="2700000" algn="tl" rotWithShape="0">
                  <a:schemeClr val="dk1">
                    <a:alpha val="40000"/>
                  </a:schemeClr>
                </a:outerShdw>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11" name="TextBox 10"/>
          <p:cNvSpPr txBox="1"/>
          <p:nvPr/>
        </p:nvSpPr>
        <p:spPr>
          <a:xfrm>
            <a:off x="6612254" y="4208614"/>
            <a:ext cx="5756856" cy="369332"/>
          </a:xfrm>
          <a:prstGeom prst="rect">
            <a:avLst/>
          </a:prstGeom>
          <a:noFill/>
        </p:spPr>
        <p:txBody>
          <a:bodyPr wrap="square" rtlCol="0">
            <a:spAutoFit/>
          </a:bodyPr>
          <a:lstStyle/>
          <a:p>
            <a:pPr algn="ctr"/>
            <a:r>
              <a:rPr lang="en-US" b="1" dirty="0" smtClean="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Microsoft Sans Serif" panose="020B0604020202020204" pitchFamily="34" charset="0"/>
                <a:ea typeface="Microsoft Sans Serif" panose="020B0604020202020204" pitchFamily="34" charset="0"/>
                <a:cs typeface="Microsoft Sans Serif" panose="020B0604020202020204" pitchFamily="34" charset="0"/>
              </a:rPr>
              <a:t>Your Vision, Our </a:t>
            </a:r>
            <a:r>
              <a:rPr lang="en-US" b="1"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Microsoft Sans Serif" panose="020B0604020202020204" pitchFamily="34" charset="0"/>
                <a:ea typeface="Microsoft Sans Serif" panose="020B0604020202020204" pitchFamily="34" charset="0"/>
                <a:cs typeface="Microsoft Sans Serif" panose="020B0604020202020204" pitchFamily="34" charset="0"/>
              </a:rPr>
              <a:t>T</a:t>
            </a:r>
            <a:r>
              <a:rPr lang="en-US" b="1" dirty="0" smtClean="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Microsoft Sans Serif" panose="020B0604020202020204" pitchFamily="34" charset="0"/>
                <a:ea typeface="Microsoft Sans Serif" panose="020B0604020202020204" pitchFamily="34" charset="0"/>
                <a:cs typeface="Microsoft Sans Serif" panose="020B0604020202020204" pitchFamily="34" charset="0"/>
              </a:rPr>
              <a:t>ech, Smart </a:t>
            </a:r>
            <a:r>
              <a:rPr lang="en-US" b="1"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Microsoft Sans Serif" panose="020B0604020202020204" pitchFamily="34" charset="0"/>
                <a:ea typeface="Microsoft Sans Serif" panose="020B0604020202020204" pitchFamily="34" charset="0"/>
                <a:cs typeface="Microsoft Sans Serif" panose="020B0604020202020204" pitchFamily="34" charset="0"/>
              </a:rPr>
              <a:t>S</a:t>
            </a:r>
            <a:r>
              <a:rPr lang="en-US" b="1" dirty="0" smtClean="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Microsoft Sans Serif" panose="020B0604020202020204" pitchFamily="34" charset="0"/>
                <a:ea typeface="Microsoft Sans Serif" panose="020B0604020202020204" pitchFamily="34" charset="0"/>
                <a:cs typeface="Microsoft Sans Serif" panose="020B0604020202020204" pitchFamily="34" charset="0"/>
              </a:rPr>
              <a:t>olutions</a:t>
            </a:r>
            <a:endParaRPr lang="en-US" b="1"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23054767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0"/>
            <a:ext cx="9144000" cy="1043189"/>
          </a:xfrm>
        </p:spPr>
        <p:txBody>
          <a:bodyPr>
            <a:normAutofit/>
          </a:bodyPr>
          <a:lstStyle/>
          <a:p>
            <a:r>
              <a:rPr lang="en-US" sz="4400" dirty="0" smtClean="0">
                <a:latin typeface="Microsoft Sans Serif" panose="020B0604020202020204" pitchFamily="34" charset="0"/>
                <a:ea typeface="Microsoft Sans Serif" panose="020B0604020202020204" pitchFamily="34" charset="0"/>
                <a:cs typeface="Microsoft Sans Serif" panose="020B0604020202020204" pitchFamily="34" charset="0"/>
              </a:rPr>
              <a:t>Channels used for Marketing</a:t>
            </a:r>
            <a:endParaRPr lang="en-US" sz="4400"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3" name="Subtitle 2"/>
          <p:cNvSpPr>
            <a:spLocks noGrp="1"/>
          </p:cNvSpPr>
          <p:nvPr>
            <p:ph type="subTitle" idx="1"/>
          </p:nvPr>
        </p:nvSpPr>
        <p:spPr>
          <a:xfrm>
            <a:off x="0" y="1695964"/>
            <a:ext cx="12192000" cy="5162036"/>
          </a:xfrm>
        </p:spPr>
        <p:txBody>
          <a:bodyPr/>
          <a:lstStyle/>
          <a:p>
            <a:pPr algn="l"/>
            <a:r>
              <a:rPr lang="en-US" dirty="0" smtClean="0"/>
              <a:t>Along the process of launching this tech company, our plan to place this company among the other best companies in the world. We want to advertise the company and our work through the following platforms:</a:t>
            </a:r>
          </a:p>
          <a:p>
            <a:pPr marL="342900" indent="-342900" algn="l">
              <a:buFont typeface="Arial" panose="020B0604020202020204" pitchFamily="34" charset="0"/>
              <a:buChar char="•"/>
            </a:pPr>
            <a:r>
              <a:rPr lang="en-US" dirty="0" smtClean="0"/>
              <a:t>Facebook</a:t>
            </a:r>
          </a:p>
          <a:p>
            <a:pPr marL="342900" indent="-342900" algn="l">
              <a:buFont typeface="Arial" panose="020B0604020202020204" pitchFamily="34" charset="0"/>
              <a:buChar char="•"/>
            </a:pPr>
            <a:r>
              <a:rPr lang="en-US" dirty="0" smtClean="0"/>
              <a:t>Instagram</a:t>
            </a:r>
          </a:p>
          <a:p>
            <a:pPr marL="342900" indent="-342900" algn="l">
              <a:buFont typeface="Arial" panose="020B0604020202020204" pitchFamily="34" charset="0"/>
              <a:buChar char="•"/>
            </a:pPr>
            <a:r>
              <a:rPr lang="en-US" dirty="0" smtClean="0"/>
              <a:t>Twitter</a:t>
            </a:r>
          </a:p>
          <a:p>
            <a:pPr marL="342900" indent="-342900" algn="l">
              <a:buFont typeface="Arial" panose="020B0604020202020204" pitchFamily="34" charset="0"/>
              <a:buChar char="•"/>
            </a:pPr>
            <a:r>
              <a:rPr lang="en-US" dirty="0" smtClean="0"/>
              <a:t>YouTube</a:t>
            </a:r>
          </a:p>
          <a:p>
            <a:pPr algn="l"/>
            <a:r>
              <a:rPr lang="en-US" dirty="0" smtClean="0"/>
              <a:t>With those mentioned platforms above, this enables us to give our customers a step by step guide on how to use our products especially for the beginners and for those who are quite curious on how Next Gen Tech operates.</a:t>
            </a:r>
          </a:p>
          <a:p>
            <a:pPr algn="l"/>
            <a:endParaRPr lang="en-US" dirty="0"/>
          </a:p>
        </p:txBody>
      </p:sp>
    </p:spTree>
    <p:extLst>
      <p:ext uri="{BB962C8B-B14F-4D97-AF65-F5344CB8AC3E}">
        <p14:creationId xmlns:p14="http://schemas.microsoft.com/office/powerpoint/2010/main" val="309431922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264</TotalTime>
  <Words>575</Words>
  <Application>Microsoft Office PowerPoint</Application>
  <PresentationFormat>Widescreen</PresentationFormat>
  <Paragraphs>42</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Calibri Light</vt:lpstr>
      <vt:lpstr>Microsoft Sans Serif</vt:lpstr>
      <vt:lpstr>Wingdings</vt:lpstr>
      <vt:lpstr>Office Theme</vt:lpstr>
      <vt:lpstr>PowerPoint Presentation</vt:lpstr>
      <vt:lpstr>PowerPoint Presentation</vt:lpstr>
      <vt:lpstr>The Challenge We Are Solving</vt:lpstr>
      <vt:lpstr>From Issue to Impact: Our Approach</vt:lpstr>
      <vt:lpstr>Brand Identity</vt:lpstr>
      <vt:lpstr>Channels used for Marketing</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USER1</dc:creator>
  <cp:lastModifiedBy>USER</cp:lastModifiedBy>
  <cp:revision>25</cp:revision>
  <dcterms:created xsi:type="dcterms:W3CDTF">2025-11-23T13:34:56Z</dcterms:created>
  <dcterms:modified xsi:type="dcterms:W3CDTF">2025-11-23T20:12:27Z</dcterms:modified>
</cp:coreProperties>
</file>